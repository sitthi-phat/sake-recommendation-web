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B8860B"/>
                </a:solidFill>
                <a:latin typeface="Arial"/>
              </a:rPr>
              <a:t>GOLD INVESTMENT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  <a:latin typeface="Arial"/>
              </a:rPr>
              <a:t>บทวิเคราะห์และโอกาสการลงทุนทองคำ</a:t>
            </a:r>
          </a:p>
          <a:p>
            <a:r>
              <a:t>Executive Summary for Investors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  <a:latin typeface="Arial"/>
              </a:rPr>
              <a:t>1. ปัจจัยขับเคลื่อนราคาทองคำ (Key Catalysts)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นโยบายการเงินและอัตราดอกเบี้ย (Monetary Policy)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การปรับลดอัตราดอกเบี้ยของธนาคารกลาง (FED) ส่งผลให้ต้นทุนค่าเสียโอกาสลดลง เป็นบวกต่อทองคำ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สภาวะเงินเฟ้อ (Inflationary Pressures)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ทองคำยังคงทำหน้าที่เป็นสินทรัพย์ป้องกันความเสี่ยง (Safe Haven) ที่แข็งแกร่ง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ความเสี่ยงทางภูมิรัฐศาสตร์ (Geopolitical Risks)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ความขัดแย้งระหว่างประเทศกระตุ้นให้เกิดแรงซื้อเพื่อลดความผันผวนของพอร์ตลงทุน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การเข้าซื้อของธนาคารกลาง (Central Bank Accumulation)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ธนาคารกลางทั่วโลกเพิ่มสัดส่วนทุนสำรองเป็นทองคำอย่างต่อเนื่องเพื่อกระจายความเสี่ยงจาก USD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  <a:latin typeface="Arial"/>
              </a:rPr>
              <a:t>2. ฉากทัศน์และแนวโน้มตลาด (Market Scenarios)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📈 Bull Case (กรณีขาขึ้น / เชิงบวก)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เศรษฐกิจชะลอตัวเร็วกว่าคาดการณ์ และเข้าสู่วัฏจักรดอกเบี้ยขาลงชัดเจน หนุนเงินทุนไหลเข้า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⚖️ Base Case (กรณีฐาน / ทรงตัว)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ตลาดรอประเมินทิศทางจากตัวเลขเศรษฐกิจ (CPI, ตลาดแรงงาน) ราคาเคลื่อนไหวในกรอบ (Sideways)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📉 Bear Case (กรณีปรับฐาน / เชิงลบ)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เศรษฐกิจสหรัฐฯ แข็งแกร่งเกินคาด (No Landing) ดอลลาร์แข็งค่า กดดันราคาทองคำ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  <a:latin typeface="Arial"/>
              </a:rPr>
              <a:t>3. เครื่องมือและกลยุทธ์การลงทุน (Investment Vehicles)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ทองคำแท่ง (Physical Gold)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เหมาะสำหรับการลงทุนระยะยาว ถือครองเป็นสินทรัพย์เพื่อส่งต่อความมั่งคั่ง (Wealth Preservation)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กองทุนรวม &amp; ETF (Gold Funds/ETFs)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สภาพคล่องสูง บริหารจัดการพอร์ตง่าย ไม่ต้องรับภาระในการจัดเก็บรักษา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ตราสารอนุพันธ์ (Gold Futures / Options)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เครื่องมือสำหรับป้องกันความเสี่ยง (Hedging) และเพิ่มอัตราทด (Leverage) สำหรับนักลงทุนที่รับความเสี่ยงได้สูง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366"/>
                </a:solidFill>
                <a:latin typeface="Arial"/>
              </a:rPr>
              <a:t>แอปพลิเคชันสะสมทอง (Digital Gold)</a:t>
            </a:r>
          </a:p>
          <a:p>
            <a:pPr lvl="1">
              <a:spcAft>
                <a:spcPts val="1200"/>
              </a:spcAft>
            </a:pPr>
            <a:r>
              <a:rPr sz="1800">
                <a:solidFill>
                  <a:srgbClr val="404040"/>
                </a:solidFill>
                <a:latin typeface="Arial"/>
              </a:rPr>
              <a:t>เหมาะสำหรับกลยุทธ์ถัวเฉลี่ยต้นทุน (DCA) กระจายความเสี่ยงอย่างเป็นระบบ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